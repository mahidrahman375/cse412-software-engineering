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TT Hoves Bold" charset="1" panose="02000003020000060003"/>
      <p:regular r:id="rId25"/>
    </p:embeddedFont>
    <p:embeddedFont>
      <p:font typeface="Canva Sans" charset="1" panose="020B0503030501040103"/>
      <p:regular r:id="rId26"/>
    </p:embeddedFont>
    <p:embeddedFont>
      <p:font typeface="Inter" charset="1" panose="020B0502030000000004"/>
      <p:regular r:id="rId27"/>
    </p:embeddedFont>
    <p:embeddedFont>
      <p:font typeface="Inter Bold" charset="1" panose="020B0802030000000004"/>
      <p:regular r:id="rId28"/>
    </p:embeddedFont>
    <p:embeddedFont>
      <p:font typeface="Inter Italics" charset="1" panose="020B0502030000000004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embeddings/oleObject1.bin" Type="http://schemas.openxmlformats.org/officeDocument/2006/relationships/oleObjec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7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36820" y="8688084"/>
            <a:ext cx="7674451" cy="570216"/>
            <a:chOff x="0" y="0"/>
            <a:chExt cx="2021254" cy="1501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21255" cy="150180"/>
            </a:xfrm>
            <a:custGeom>
              <a:avLst/>
              <a:gdLst/>
              <a:ahLst/>
              <a:cxnLst/>
              <a:rect r="r" b="b" t="t" l="l"/>
              <a:pathLst>
                <a:path h="150180" w="2021255">
                  <a:moveTo>
                    <a:pt x="10088" y="0"/>
                  </a:moveTo>
                  <a:lnTo>
                    <a:pt x="2011167" y="0"/>
                  </a:lnTo>
                  <a:cubicBezTo>
                    <a:pt x="2013842" y="0"/>
                    <a:pt x="2016408" y="1063"/>
                    <a:pt x="2018300" y="2955"/>
                  </a:cubicBezTo>
                  <a:cubicBezTo>
                    <a:pt x="2020192" y="4847"/>
                    <a:pt x="2021255" y="7412"/>
                    <a:pt x="2021255" y="10088"/>
                  </a:cubicBezTo>
                  <a:lnTo>
                    <a:pt x="2021255" y="140092"/>
                  </a:lnTo>
                  <a:cubicBezTo>
                    <a:pt x="2021255" y="145664"/>
                    <a:pt x="2016738" y="150180"/>
                    <a:pt x="2011167" y="150180"/>
                  </a:cubicBezTo>
                  <a:lnTo>
                    <a:pt x="10088" y="150180"/>
                  </a:lnTo>
                  <a:cubicBezTo>
                    <a:pt x="7412" y="150180"/>
                    <a:pt x="4847" y="149117"/>
                    <a:pt x="2955" y="147226"/>
                  </a:cubicBezTo>
                  <a:cubicBezTo>
                    <a:pt x="1063" y="145334"/>
                    <a:pt x="0" y="142768"/>
                    <a:pt x="0" y="140092"/>
                  </a:cubicBezTo>
                  <a:lnTo>
                    <a:pt x="0" y="10088"/>
                  </a:lnTo>
                  <a:cubicBezTo>
                    <a:pt x="0" y="4517"/>
                    <a:pt x="4517" y="0"/>
                    <a:pt x="10088" y="0"/>
                  </a:cubicBezTo>
                  <a:close/>
                </a:path>
              </a:pathLst>
            </a:custGeom>
            <a:solidFill>
              <a:srgbClr val="004717">
                <a:alpha val="9804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2021254" cy="2644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572580" cy="57258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717">
                <a:alpha val="9804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6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2700000">
            <a:off x="14504013" y="6425313"/>
            <a:ext cx="3222004" cy="3380162"/>
          </a:xfrm>
          <a:custGeom>
            <a:avLst/>
            <a:gdLst/>
            <a:ahLst/>
            <a:cxnLst/>
            <a:rect r="r" b="b" t="t" l="l"/>
            <a:pathLst>
              <a:path h="3380162" w="3222004">
                <a:moveTo>
                  <a:pt x="0" y="0"/>
                </a:moveTo>
                <a:lnTo>
                  <a:pt x="3222004" y="0"/>
                </a:lnTo>
                <a:lnTo>
                  <a:pt x="3222004" y="3380162"/>
                </a:lnTo>
                <a:lnTo>
                  <a:pt x="0" y="33801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1753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136820" y="3499820"/>
            <a:ext cx="13891061" cy="3487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63"/>
              </a:lnSpc>
            </a:pPr>
            <a:r>
              <a:rPr lang="en-US" sz="9248" b="true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TEAMUP — ACADEMIC COLLABORATION SYSTEM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739343"/>
            <a:ext cx="14382750" cy="1571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480"/>
              </a:lnSpc>
              <a:spcBef>
                <a:spcPct val="0"/>
              </a:spcBef>
            </a:pPr>
            <a:r>
              <a:rPr lang="en-US" sz="10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Group Members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46447" y="2977151"/>
            <a:ext cx="12298535" cy="539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49"/>
              </a:lnSpc>
            </a:pP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Adiba Muttaqin                                                              2023-2-60-028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46447" y="4073967"/>
            <a:ext cx="11942649" cy="539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49"/>
              </a:lnSpc>
            </a:pP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Ar</a:t>
            </a: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afat Mahmud Towhid                                              2023-2-60-087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46447" y="5279832"/>
            <a:ext cx="12298535" cy="539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49"/>
              </a:lnSpc>
            </a:pP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Moh</a:t>
            </a: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ammad Tauhid Hossain                                      2023-2-60-132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46447" y="6485698"/>
            <a:ext cx="11942649" cy="539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49"/>
              </a:lnSpc>
            </a:pP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Ye</a:t>
            </a: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amin Rahman Mahid                                                2023-3-60-375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456120"/>
            <a:ext cx="572580" cy="57258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717">
                <a:alpha val="9804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6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3065446" y="7444458"/>
            <a:ext cx="4193854" cy="1813842"/>
          </a:xfrm>
          <a:custGeom>
            <a:avLst/>
            <a:gdLst/>
            <a:ahLst/>
            <a:cxnLst/>
            <a:rect r="r" b="b" t="t" l="l"/>
            <a:pathLst>
              <a:path h="1813842" w="4193854">
                <a:moveTo>
                  <a:pt x="0" y="0"/>
                </a:moveTo>
                <a:lnTo>
                  <a:pt x="4193854" y="0"/>
                </a:lnTo>
                <a:lnTo>
                  <a:pt x="4193854" y="1813842"/>
                </a:lnTo>
                <a:lnTo>
                  <a:pt x="0" y="18138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694738" y="1162050"/>
            <a:ext cx="8898524" cy="764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82"/>
              </a:lnSpc>
            </a:pPr>
            <a:r>
              <a:rPr lang="en-US" b="true" sz="5900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TH</a:t>
            </a:r>
            <a:r>
              <a:rPr lang="en-US" b="true" sz="5900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E PROBLEM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14990" y="3227775"/>
            <a:ext cx="15000431" cy="3058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04519" indent="-302260" lvl="1">
              <a:lnSpc>
                <a:spcPts val="4927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Teams form ad-hoc — group chats, hallway talk, faculty grouping </a:t>
            </a:r>
          </a:p>
          <a:p>
            <a:pPr algn="just" marL="604519" indent="-302260" lvl="1">
              <a:lnSpc>
                <a:spcPts val="4927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Teammates’ real skills are unknown, so teams end up unbalanced </a:t>
            </a:r>
          </a:p>
          <a:p>
            <a:pPr algn="just" marL="604519" indent="-302260" lvl="1">
              <a:lnSpc>
                <a:spcPts val="4927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Finding the right supervisor is slow and opaque </a:t>
            </a:r>
          </a:p>
          <a:p>
            <a:pPr algn="just" marL="604519" indent="-302260" lvl="1">
              <a:lnSpc>
                <a:spcPts val="4927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Work scatters across chats, drives, and notice boards </a:t>
            </a:r>
          </a:p>
          <a:p>
            <a:pPr algn="just" marL="604519" indent="-302260" lvl="1">
              <a:lnSpc>
                <a:spcPts val="4927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Contributions go untracked; good work disappears every semester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456120"/>
            <a:ext cx="572580" cy="57258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717">
                <a:alpha val="9804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6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314990" y="2914205"/>
            <a:ext cx="15000431" cy="4296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27"/>
              </a:lnSpc>
            </a:pP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▶ Anonymous online survey — 30 respondents </a:t>
            </a:r>
          </a:p>
          <a:p>
            <a:pPr algn="just">
              <a:lnSpc>
                <a:spcPts val="4927"/>
              </a:lnSpc>
            </a:pP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▶ Goal: validate the problems and measure real demand </a:t>
            </a:r>
          </a:p>
          <a:p>
            <a:pPr algn="just">
              <a:lnSpc>
                <a:spcPts val="4927"/>
              </a:lnSpc>
            </a:pP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▶ Covered five areas: </a:t>
            </a:r>
          </a:p>
          <a:p>
            <a:pPr algn="just">
              <a:lnSpc>
                <a:spcPts val="4927"/>
              </a:lnSpc>
            </a:pP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         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– Forming teams and finding teammates </a:t>
            </a:r>
          </a:p>
          <a:p>
            <a:pPr algn="just">
              <a:lnSpc>
                <a:spcPts val="4927"/>
              </a:lnSpc>
            </a:pP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         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– Finding and approaching supervisors </a:t>
            </a:r>
          </a:p>
          <a:p>
            <a:pPr algn="just">
              <a:lnSpc>
                <a:spcPts val="4927"/>
              </a:lnSpc>
            </a:pP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         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– Collaboration tools and tracking </a:t>
            </a:r>
          </a:p>
          <a:p>
            <a:pPr algn="just">
              <a:lnSpc>
                <a:spcPts val="4927"/>
              </a:lnSpc>
            </a:pP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         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– Finding learning / project resources – Hearing about academic events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2299721" y="3076130"/>
            <a:ext cx="4545332" cy="2360076"/>
          </a:xfrm>
          <a:custGeom>
            <a:avLst/>
            <a:gdLst/>
            <a:ahLst/>
            <a:cxnLst/>
            <a:rect r="r" b="b" t="t" l="l"/>
            <a:pathLst>
              <a:path h="2360076" w="4545332">
                <a:moveTo>
                  <a:pt x="0" y="0"/>
                </a:moveTo>
                <a:lnTo>
                  <a:pt x="4545332" y="0"/>
                </a:lnTo>
                <a:lnTo>
                  <a:pt x="4545332" y="2360077"/>
                </a:lnTo>
                <a:lnTo>
                  <a:pt x="0" y="23600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694738" y="1162050"/>
            <a:ext cx="8898524" cy="764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82"/>
              </a:lnSpc>
            </a:pPr>
            <a:r>
              <a:rPr lang="en-US" b="true" sz="5900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W</a:t>
            </a:r>
            <a:r>
              <a:rPr lang="en-US" b="true" sz="5900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E ASKED STUDENTS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456120"/>
            <a:ext cx="572580" cy="57258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717">
                <a:alpha val="9804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6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4136023"/>
            <a:ext cx="7405100" cy="5697150"/>
          </a:xfrm>
          <a:custGeom>
            <a:avLst/>
            <a:gdLst/>
            <a:ahLst/>
            <a:cxnLst/>
            <a:rect r="r" b="b" t="t" l="l"/>
            <a:pathLst>
              <a:path h="5697150" w="7405100">
                <a:moveTo>
                  <a:pt x="0" y="0"/>
                </a:moveTo>
                <a:lnTo>
                  <a:pt x="7405100" y="0"/>
                </a:lnTo>
                <a:lnTo>
                  <a:pt x="7405100" y="5697150"/>
                </a:lnTo>
                <a:lnTo>
                  <a:pt x="0" y="56971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446448" y="4136023"/>
            <a:ext cx="7405100" cy="5697150"/>
          </a:xfrm>
          <a:custGeom>
            <a:avLst/>
            <a:gdLst/>
            <a:ahLst/>
            <a:cxnLst/>
            <a:rect r="r" b="b" t="t" l="l"/>
            <a:pathLst>
              <a:path h="5697150" w="7405100">
                <a:moveTo>
                  <a:pt x="0" y="0"/>
                </a:moveTo>
                <a:lnTo>
                  <a:pt x="7405100" y="0"/>
                </a:lnTo>
                <a:lnTo>
                  <a:pt x="7405100" y="5697150"/>
                </a:lnTo>
                <a:lnTo>
                  <a:pt x="0" y="56971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3213384"/>
            <a:ext cx="7542720" cy="581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27"/>
              </a:lnSpc>
            </a:pP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87% find forming a team Medium-to-Hard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577475" y="1162050"/>
            <a:ext cx="13737946" cy="1498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82"/>
              </a:lnSpc>
            </a:pPr>
            <a:r>
              <a:rPr lang="en-US" b="true" sz="5900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FINDING TEAMMAT</a:t>
            </a:r>
            <a:r>
              <a:rPr lang="en-US" b="true" sz="5900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ES &amp; SUPERVISORS IS HARD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446448" y="3213384"/>
            <a:ext cx="7843163" cy="581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27"/>
              </a:lnSpc>
            </a:pP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87% say the same about getting a supervisor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456120"/>
            <a:ext cx="572580" cy="57258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717">
                <a:alpha val="9804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6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5654271"/>
            <a:ext cx="16598503" cy="3857180"/>
          </a:xfrm>
          <a:custGeom>
            <a:avLst/>
            <a:gdLst/>
            <a:ahLst/>
            <a:cxnLst/>
            <a:rect r="r" b="b" t="t" l="l"/>
            <a:pathLst>
              <a:path h="3857180" w="16598503">
                <a:moveTo>
                  <a:pt x="0" y="0"/>
                </a:moveTo>
                <a:lnTo>
                  <a:pt x="16598503" y="0"/>
                </a:lnTo>
                <a:lnTo>
                  <a:pt x="16598503" y="3857180"/>
                </a:lnTo>
                <a:lnTo>
                  <a:pt x="0" y="38571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8" t="0" r="-418" b="-1431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01280" y="3167356"/>
            <a:ext cx="14714141" cy="1820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27"/>
              </a:lnSpc>
            </a:pP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▶ 80% rely on informal methods to find teammates </a:t>
            </a:r>
          </a:p>
          <a:p>
            <a:pPr algn="just">
              <a:lnSpc>
                <a:spcPts val="4927"/>
              </a:lnSpc>
            </a:pP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▶ Resources spread across Google / YouTube / seniors — no shared hub </a:t>
            </a:r>
          </a:p>
          <a:p>
            <a:pPr algn="just">
              <a:lnSpc>
                <a:spcPts val="4927"/>
              </a:lnSpc>
            </a:pP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▶ 47% miss events or only hear by word of mouth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577475" y="1162050"/>
            <a:ext cx="13737946" cy="1498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82"/>
              </a:lnSpc>
            </a:pPr>
            <a:r>
              <a:rPr lang="en-US" b="true" sz="5900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TODAY’S TOOL</a:t>
            </a:r>
            <a:r>
              <a:rPr lang="en-US" b="true" sz="5900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S &amp; INFORMATION ARE SCATTERED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456120"/>
            <a:ext cx="572580" cy="57258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717">
                <a:alpha val="9804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6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795819" y="5119214"/>
            <a:ext cx="11301259" cy="4139086"/>
          </a:xfrm>
          <a:custGeom>
            <a:avLst/>
            <a:gdLst/>
            <a:ahLst/>
            <a:cxnLst/>
            <a:rect r="r" b="b" t="t" l="l"/>
            <a:pathLst>
              <a:path h="4139086" w="11301259">
                <a:moveTo>
                  <a:pt x="0" y="0"/>
                </a:moveTo>
                <a:lnTo>
                  <a:pt x="11301259" y="0"/>
                </a:lnTo>
                <a:lnTo>
                  <a:pt x="11301259" y="4139086"/>
                </a:lnTo>
                <a:lnTo>
                  <a:pt x="0" y="41390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01280" y="3517886"/>
            <a:ext cx="14714141" cy="581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27"/>
              </a:lnSpc>
            </a:pP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▶ 93% would use a single platform that does it all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577475" y="1162050"/>
            <a:ext cx="13737946" cy="1498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82"/>
              </a:lnSpc>
            </a:pPr>
            <a:r>
              <a:rPr lang="en-US" b="true" sz="5900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STRO</a:t>
            </a:r>
            <a:r>
              <a:rPr lang="en-US" b="true" sz="5900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NG DEMAND FOR ONE PLATFORM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456120"/>
            <a:ext cx="572580" cy="57258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717">
                <a:alpha val="9804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6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3677558" y="3690193"/>
            <a:ext cx="4367862" cy="2906613"/>
          </a:xfrm>
          <a:custGeom>
            <a:avLst/>
            <a:gdLst/>
            <a:ahLst/>
            <a:cxnLst/>
            <a:rect r="r" b="b" t="t" l="l"/>
            <a:pathLst>
              <a:path h="2906613" w="4367862">
                <a:moveTo>
                  <a:pt x="0" y="0"/>
                </a:moveTo>
                <a:lnTo>
                  <a:pt x="4367862" y="0"/>
                </a:lnTo>
                <a:lnTo>
                  <a:pt x="4367862" y="2906614"/>
                </a:lnTo>
                <a:lnTo>
                  <a:pt x="0" y="29066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314990" y="3223768"/>
            <a:ext cx="14714141" cy="3677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27"/>
              </a:lnSpc>
            </a:pP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▶ One platform for the whole project lifecycle: </a:t>
            </a:r>
          </a:p>
          <a:p>
            <a:pPr algn="just">
              <a:lnSpc>
                <a:spcPts val="4927"/>
              </a:lnSpc>
            </a:pP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             – Find skill-matched teammates → secure a supervisor </a:t>
            </a:r>
          </a:p>
          <a:p>
            <a:pPr algn="just">
              <a:lnSpc>
                <a:spcPts val="4927"/>
              </a:lnSpc>
            </a:pP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             – Collaborate in a shared workspace → showcase the result </a:t>
            </a:r>
          </a:p>
          <a:p>
            <a:pPr algn="just">
              <a:lnSpc>
                <a:spcPts val="4927"/>
              </a:lnSpc>
            </a:pP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▶ Replaces scattered chats, drives, and notice boards </a:t>
            </a:r>
          </a:p>
          <a:p>
            <a:pPr algn="just">
              <a:lnSpc>
                <a:spcPts val="4927"/>
              </a:lnSpc>
            </a:pP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▶ University-only access with verified accounts </a:t>
            </a:r>
          </a:p>
          <a:p>
            <a:pPr algn="just">
              <a:lnSpc>
                <a:spcPts val="4927"/>
              </a:lnSpc>
            </a:pP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▶ Built around one core loop: post → apply → accept → collaborate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123543" y="1162050"/>
            <a:ext cx="13737946" cy="764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82"/>
              </a:lnSpc>
            </a:pPr>
            <a:r>
              <a:rPr lang="en-US" b="true" sz="5900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OUR SOLUTIO</a:t>
            </a:r>
            <a:r>
              <a:rPr lang="en-US" b="true" sz="5900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N: TEAMUP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742410"/>
            <a:ext cx="572580" cy="57258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717">
                <a:alpha val="9804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6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632170" y="1478849"/>
            <a:ext cx="2234651" cy="2234651"/>
          </a:xfrm>
          <a:custGeom>
            <a:avLst/>
            <a:gdLst/>
            <a:ahLst/>
            <a:cxnLst/>
            <a:rect r="r" b="b" t="t" l="l"/>
            <a:pathLst>
              <a:path h="2234651" w="2234651">
                <a:moveTo>
                  <a:pt x="0" y="0"/>
                </a:moveTo>
                <a:lnTo>
                  <a:pt x="2234651" y="0"/>
                </a:lnTo>
                <a:lnTo>
                  <a:pt x="2234651" y="2234651"/>
                </a:lnTo>
                <a:lnTo>
                  <a:pt x="0" y="22346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4482129"/>
            <a:ext cx="15556284" cy="3058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927"/>
              </a:lnSpc>
            </a:pP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▶ </a:t>
            </a:r>
            <a:r>
              <a:rPr lang="en-US" b="true" sz="27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Stu</a:t>
            </a:r>
            <a:r>
              <a:rPr lang="en-US" b="true" sz="27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dent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— builds a profile, discovers and forms teams, collaborates, showcases </a:t>
            </a:r>
          </a:p>
          <a:p>
            <a:pPr algn="just" marL="0" indent="0" lvl="0">
              <a:lnSpc>
                <a:spcPts val="4927"/>
              </a:lnSpc>
            </a:pP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▶</a:t>
            </a:r>
            <a:r>
              <a:rPr lang="en-US" b="true" sz="27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Supervisor / Faculty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— accepts requests, monitors (read-only), reviews proposals,     approves milestones </a:t>
            </a:r>
          </a:p>
          <a:p>
            <a:pPr algn="just" marL="0" indent="0" lvl="0">
              <a:lnSpc>
                <a:spcPts val="4927"/>
              </a:lnSpc>
            </a:pP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▶ </a:t>
            </a:r>
            <a:r>
              <a:rPr lang="en-US" b="true" sz="27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Administrator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— verifies accounts, moderates content, manages departments &amp; sessions </a:t>
            </a:r>
          </a:p>
          <a:p>
            <a:pPr algn="just">
              <a:lnSpc>
                <a:spcPts val="4927"/>
              </a:lnSpc>
            </a:pP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▶</a:t>
            </a:r>
            <a:r>
              <a:rPr lang="en-US" sz="279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Gues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 — can view the public project showcase only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567485"/>
            <a:ext cx="12613880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50"/>
              </a:lnSpc>
            </a:pPr>
            <a:r>
              <a:rPr lang="en-US" sz="7500" b="true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W</a:t>
            </a:r>
            <a:r>
              <a:rPr lang="en-US" b="true" sz="7500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HO USES IT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200429"/>
            <a:ext cx="15844681" cy="944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056"/>
              </a:lnSpc>
              <a:spcBef>
                <a:spcPct val="0"/>
              </a:spcBef>
            </a:pPr>
            <a:r>
              <a:rPr lang="en-US" b="true" sz="7200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CO</a:t>
            </a:r>
            <a:r>
              <a:rPr lang="en-US" b="true" sz="7200" strike="noStrike" u="none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RE</a:t>
            </a:r>
            <a:r>
              <a:rPr lang="en-US" b="true" sz="7200" strike="noStrike" u="none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 F</a:t>
            </a:r>
            <a:r>
              <a:rPr lang="en-US" b="true" sz="7200" strike="noStrike" u="none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EATURES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27802" y="742410"/>
            <a:ext cx="572580" cy="57258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717">
                <a:alpha val="9804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6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3828963" y="3763150"/>
            <a:ext cx="3044417" cy="2760700"/>
          </a:xfrm>
          <a:custGeom>
            <a:avLst/>
            <a:gdLst/>
            <a:ahLst/>
            <a:cxnLst/>
            <a:rect r="r" b="b" t="t" l="l"/>
            <a:pathLst>
              <a:path h="2760700" w="3044417">
                <a:moveTo>
                  <a:pt x="0" y="0"/>
                </a:moveTo>
                <a:lnTo>
                  <a:pt x="3044418" y="0"/>
                </a:lnTo>
                <a:lnTo>
                  <a:pt x="3044418" y="2760700"/>
                </a:lnTo>
                <a:lnTo>
                  <a:pt x="0" y="2760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871" t="0" r="-7871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3180339"/>
            <a:ext cx="10798440" cy="4915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927"/>
              </a:lnSpc>
            </a:pPr>
            <a:r>
              <a:rPr lang="en-US" sz="2799" i="true">
                <a:solidFill>
                  <a:srgbClr val="000000"/>
                </a:solidFill>
                <a:latin typeface="Inter Italics"/>
                <a:ea typeface="Inter Italics"/>
                <a:cs typeface="Inter Italics"/>
                <a:sym typeface="Inter Italics"/>
              </a:rPr>
              <a:t>▶ Di</a:t>
            </a:r>
            <a:r>
              <a:rPr lang="en-US" sz="2799" i="true">
                <a:solidFill>
                  <a:srgbClr val="000000"/>
                </a:solidFill>
                <a:latin typeface="Inter Italics"/>
                <a:ea typeface="Inter Italics"/>
                <a:cs typeface="Inter Italics"/>
                <a:sym typeface="Inter Italics"/>
              </a:rPr>
              <a:t>scovery board: post, search, filter, apply </a:t>
            </a:r>
          </a:p>
          <a:p>
            <a:pPr algn="just" marL="0" indent="0" lvl="0">
              <a:lnSpc>
                <a:spcPts val="4927"/>
              </a:lnSpc>
            </a:pPr>
            <a:r>
              <a:rPr lang="en-US" sz="2799" i="true">
                <a:solidFill>
                  <a:srgbClr val="000000"/>
                </a:solidFill>
                <a:latin typeface="Inter Italics"/>
                <a:ea typeface="Inter Italics"/>
                <a:cs typeface="Inter Italics"/>
                <a:sym typeface="Inter Italics"/>
              </a:rPr>
              <a:t>▶ Ski</a:t>
            </a:r>
            <a:r>
              <a:rPr lang="en-US" sz="2799" i="true">
                <a:solidFill>
                  <a:srgbClr val="000000"/>
                </a:solidFill>
                <a:latin typeface="Inter Italics"/>
                <a:ea typeface="Inter Italics"/>
                <a:cs typeface="Inter Italics"/>
                <a:sym typeface="Inter Italics"/>
              </a:rPr>
              <a:t>ll-m</a:t>
            </a:r>
            <a:r>
              <a:rPr lang="en-US" sz="2799" i="true">
                <a:solidFill>
                  <a:srgbClr val="000000"/>
                </a:solidFill>
                <a:latin typeface="Inter Italics"/>
                <a:ea typeface="Inter Italics"/>
                <a:cs typeface="Inter Italics"/>
                <a:sym typeface="Inter Italics"/>
              </a:rPr>
              <a:t>atched team formation </a:t>
            </a:r>
          </a:p>
          <a:p>
            <a:pPr algn="just" marL="0" indent="0" lvl="0">
              <a:lnSpc>
                <a:spcPts val="4927"/>
              </a:lnSpc>
            </a:pPr>
            <a:r>
              <a:rPr lang="en-US" sz="2799" i="true">
                <a:solidFill>
                  <a:srgbClr val="000000"/>
                </a:solidFill>
                <a:latin typeface="Inter Italics"/>
                <a:ea typeface="Inter Italics"/>
                <a:cs typeface="Inter Italics"/>
                <a:sym typeface="Inter Italics"/>
              </a:rPr>
              <a:t>▶ Skill-gap visualizer </a:t>
            </a:r>
          </a:p>
          <a:p>
            <a:pPr algn="just" marL="0" indent="0" lvl="0">
              <a:lnSpc>
                <a:spcPts val="4927"/>
              </a:lnSpc>
            </a:pPr>
            <a:r>
              <a:rPr lang="en-US" sz="2799" i="true">
                <a:solidFill>
                  <a:srgbClr val="000000"/>
                </a:solidFill>
                <a:latin typeface="Inter Italics"/>
                <a:ea typeface="Inter Italics"/>
                <a:cs typeface="Inter Italics"/>
                <a:sym typeface="Inter Italics"/>
              </a:rPr>
              <a:t>▶ Supervisor directory + request workflow</a:t>
            </a:r>
          </a:p>
          <a:p>
            <a:pPr algn="just" marL="0" indent="0" lvl="0">
              <a:lnSpc>
                <a:spcPts val="4927"/>
              </a:lnSpc>
            </a:pPr>
            <a:r>
              <a:rPr lang="en-US" sz="2799" i="true">
                <a:solidFill>
                  <a:srgbClr val="000000"/>
                </a:solidFill>
                <a:latin typeface="Inter Italics"/>
                <a:ea typeface="Inter Italics"/>
                <a:cs typeface="Inter Italics"/>
                <a:sym typeface="Inter Italics"/>
              </a:rPr>
              <a:t>▶ Workspace: task board, files, milestones, progress </a:t>
            </a:r>
          </a:p>
          <a:p>
            <a:pPr algn="just" marL="0" indent="0" lvl="0">
              <a:lnSpc>
                <a:spcPts val="4927"/>
              </a:lnSpc>
            </a:pPr>
            <a:r>
              <a:rPr lang="en-US" sz="2799" i="true">
                <a:solidFill>
                  <a:srgbClr val="000000"/>
                </a:solidFill>
                <a:latin typeface="Inter Italics"/>
                <a:ea typeface="Inter Italics"/>
                <a:cs typeface="Inter Italics"/>
                <a:sym typeface="Inter Italics"/>
              </a:rPr>
              <a:t>▶ Proposal tracker (Draft → Approved) </a:t>
            </a:r>
          </a:p>
          <a:p>
            <a:pPr algn="just" marL="0" indent="0" lvl="0">
              <a:lnSpc>
                <a:spcPts val="4927"/>
              </a:lnSpc>
            </a:pPr>
            <a:r>
              <a:rPr lang="en-US" sz="2799" i="true">
                <a:solidFill>
                  <a:srgbClr val="000000"/>
                </a:solidFill>
                <a:latin typeface="Inter Italics"/>
                <a:ea typeface="Inter Italics"/>
                <a:cs typeface="Inter Italics"/>
                <a:sym typeface="Inter Italics"/>
              </a:rPr>
              <a:t>▶ Resource sharing + event notifications </a:t>
            </a:r>
          </a:p>
          <a:p>
            <a:pPr algn="just">
              <a:lnSpc>
                <a:spcPts val="4927"/>
              </a:lnSpc>
            </a:pPr>
            <a:r>
              <a:rPr lang="en-US" sz="2799" i="true">
                <a:solidFill>
                  <a:srgbClr val="000000"/>
                </a:solidFill>
                <a:latin typeface="Inter Italics"/>
                <a:ea typeface="Inter Italics"/>
                <a:cs typeface="Inter Italics"/>
                <a:sym typeface="Inter Italics"/>
              </a:rPr>
              <a:t>▶ Public showcase + PDF export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27802" y="742410"/>
            <a:ext cx="572580" cy="57258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717">
                <a:alpha val="9804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6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3180339"/>
            <a:ext cx="12501456" cy="6773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4927"/>
              </a:lnSpc>
              <a:buFont typeface="Arial"/>
              <a:buChar char="•"/>
            </a:pPr>
            <a:r>
              <a:rPr lang="en-US" sz="2799" i="true">
                <a:solidFill>
                  <a:srgbClr val="000000"/>
                </a:solidFill>
                <a:latin typeface="Inter Italics"/>
                <a:ea typeface="Inter Italics"/>
                <a:cs typeface="Inter Italics"/>
                <a:sym typeface="Inter Italics"/>
              </a:rPr>
              <a:t>Accounts &amp; Profiles</a:t>
            </a:r>
          </a:p>
          <a:p>
            <a:pPr algn="l">
              <a:lnSpc>
                <a:spcPts val="4927"/>
              </a:lnSpc>
            </a:pPr>
            <a:r>
              <a:rPr lang="en-US" sz="2799" i="true">
                <a:solidFill>
                  <a:srgbClr val="000000"/>
                </a:solidFill>
                <a:latin typeface="Inter Italics"/>
                <a:ea typeface="Inter Italics"/>
                <a:cs typeface="Inter Italics"/>
                <a:sym typeface="Inter Italics"/>
              </a:rPr>
              <a:t>            -  Registration, Login, Profiles</a:t>
            </a:r>
          </a:p>
          <a:p>
            <a:pPr algn="l" marL="604519" indent="-302260" lvl="1">
              <a:lnSpc>
                <a:spcPts val="4927"/>
              </a:lnSpc>
              <a:buFont typeface="Arial"/>
              <a:buChar char="•"/>
            </a:pPr>
            <a:r>
              <a:rPr lang="en-US" sz="2799" i="true">
                <a:solidFill>
                  <a:srgbClr val="000000"/>
                </a:solidFill>
                <a:latin typeface="Inter Italics"/>
                <a:ea typeface="Inter Italics"/>
                <a:cs typeface="Inter Italics"/>
                <a:sym typeface="Inter Italics"/>
              </a:rPr>
              <a:t>Team Formation</a:t>
            </a:r>
          </a:p>
          <a:p>
            <a:pPr algn="l">
              <a:lnSpc>
                <a:spcPts val="4927"/>
              </a:lnSpc>
            </a:pPr>
            <a:r>
              <a:rPr lang="en-US" sz="2799" i="true">
                <a:solidFill>
                  <a:srgbClr val="000000"/>
                </a:solidFill>
                <a:latin typeface="Inter Italics"/>
                <a:ea typeface="Inter Italics"/>
                <a:cs typeface="Inter Italics"/>
                <a:sym typeface="Inter Italics"/>
              </a:rPr>
              <a:t>            -  Discovery, Matching, Invitations</a:t>
            </a:r>
          </a:p>
          <a:p>
            <a:pPr algn="l" marL="604519" indent="-302260" lvl="1">
              <a:lnSpc>
                <a:spcPts val="4927"/>
              </a:lnSpc>
              <a:buFont typeface="Arial"/>
              <a:buChar char="•"/>
            </a:pPr>
            <a:r>
              <a:rPr lang="en-US" sz="2799" i="true">
                <a:solidFill>
                  <a:srgbClr val="000000"/>
                </a:solidFill>
                <a:latin typeface="Inter Italics"/>
                <a:ea typeface="Inter Italics"/>
                <a:cs typeface="Inter Italics"/>
                <a:sym typeface="Inter Italics"/>
              </a:rPr>
              <a:t>Supervision (FR7–8)</a:t>
            </a:r>
          </a:p>
          <a:p>
            <a:pPr algn="l">
              <a:lnSpc>
                <a:spcPts val="4927"/>
              </a:lnSpc>
            </a:pPr>
            <a:r>
              <a:rPr lang="en-US" sz="2799" i="true">
                <a:solidFill>
                  <a:srgbClr val="000000"/>
                </a:solidFill>
                <a:latin typeface="Inter Italics"/>
                <a:ea typeface="Inter Italics"/>
                <a:cs typeface="Inter Italics"/>
                <a:sym typeface="Inter Italics"/>
              </a:rPr>
              <a:t>            -  Requests, Capacity, Proposals</a:t>
            </a:r>
          </a:p>
          <a:p>
            <a:pPr algn="l" marL="604519" indent="-302260" lvl="1">
              <a:lnSpc>
                <a:spcPts val="4927"/>
              </a:lnSpc>
              <a:buFont typeface="Arial"/>
              <a:buChar char="•"/>
            </a:pPr>
            <a:r>
              <a:rPr lang="en-US" sz="2799" i="true">
                <a:solidFill>
                  <a:srgbClr val="000000"/>
                </a:solidFill>
                <a:latin typeface="Inter Italics"/>
                <a:ea typeface="Inter Italics"/>
                <a:cs typeface="Inter Italics"/>
                <a:sym typeface="Inter Italics"/>
              </a:rPr>
              <a:t>Collaboration </a:t>
            </a:r>
          </a:p>
          <a:p>
            <a:pPr algn="l">
              <a:lnSpc>
                <a:spcPts val="4927"/>
              </a:lnSpc>
            </a:pPr>
            <a:r>
              <a:rPr lang="en-US" sz="2799" i="true">
                <a:solidFill>
                  <a:srgbClr val="000000"/>
                </a:solidFill>
                <a:latin typeface="Inter Italics"/>
                <a:ea typeface="Inter Italics"/>
                <a:cs typeface="Inter Italics"/>
                <a:sym typeface="Inter Italics"/>
              </a:rPr>
              <a:t>            -  Tasks, Milestones, File Sharing</a:t>
            </a:r>
          </a:p>
          <a:p>
            <a:pPr algn="l" marL="604519" indent="-302260" lvl="1">
              <a:lnSpc>
                <a:spcPts val="4927"/>
              </a:lnSpc>
              <a:buFont typeface="Arial"/>
              <a:buChar char="•"/>
            </a:pPr>
            <a:r>
              <a:rPr lang="en-US" sz="2799" i="true">
                <a:solidFill>
                  <a:srgbClr val="000000"/>
                </a:solidFill>
                <a:latin typeface="Inter Italics"/>
                <a:ea typeface="Inter Italics"/>
                <a:cs typeface="Inter Italics"/>
                <a:sym typeface="Inter Italics"/>
              </a:rPr>
              <a:t>Completion &amp; Admin (FR11–12)</a:t>
            </a:r>
          </a:p>
          <a:p>
            <a:pPr algn="l">
              <a:lnSpc>
                <a:spcPts val="4927"/>
              </a:lnSpc>
            </a:pPr>
            <a:r>
              <a:rPr lang="en-US" sz="2799" i="true">
                <a:solidFill>
                  <a:srgbClr val="000000"/>
                </a:solidFill>
                <a:latin typeface="Inter Italics"/>
                <a:ea typeface="Inter Italics"/>
                <a:cs typeface="Inter Italics"/>
                <a:sym typeface="Inter Italics"/>
              </a:rPr>
              <a:t>            -  Showcase, PDF Export, Administration</a:t>
            </a:r>
          </a:p>
          <a:p>
            <a:pPr algn="just">
              <a:lnSpc>
                <a:spcPts val="4927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0869064" y="3943468"/>
            <a:ext cx="6390236" cy="3328676"/>
          </a:xfrm>
          <a:custGeom>
            <a:avLst/>
            <a:gdLst/>
            <a:ahLst/>
            <a:cxnLst/>
            <a:rect r="r" b="b" t="t" l="l"/>
            <a:pathLst>
              <a:path h="3328676" w="6390236">
                <a:moveTo>
                  <a:pt x="0" y="0"/>
                </a:moveTo>
                <a:lnTo>
                  <a:pt x="6390236" y="0"/>
                </a:lnTo>
                <a:lnTo>
                  <a:pt x="6390236" y="3328676"/>
                </a:lnTo>
                <a:lnTo>
                  <a:pt x="0" y="33286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221660" y="1181100"/>
            <a:ext cx="15844681" cy="944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056"/>
              </a:lnSpc>
              <a:spcBef>
                <a:spcPct val="0"/>
              </a:spcBef>
            </a:pPr>
            <a:r>
              <a:rPr lang="en-US" b="true" sz="7200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FUNCTIONAL</a:t>
            </a:r>
            <a:r>
              <a:rPr lang="en-US" b="true" sz="7200" strike="noStrike" u="none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 </a:t>
            </a:r>
            <a:r>
              <a:rPr lang="en-US" b="true" sz="7200" strike="noStrike" u="none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R</a:t>
            </a:r>
            <a:r>
              <a:rPr lang="en-US" b="true" sz="7200" strike="noStrike" u="none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EQUIREMENTS (12)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27802" y="742410"/>
            <a:ext cx="572580" cy="57258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717">
                <a:alpha val="9804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6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221660" y="3226366"/>
            <a:ext cx="12501456" cy="4915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27"/>
              </a:lnSpc>
            </a:pPr>
            <a:r>
              <a:rPr lang="en-US" sz="2799" i="true">
                <a:solidFill>
                  <a:srgbClr val="000000"/>
                </a:solidFill>
                <a:latin typeface="Inter Italics"/>
                <a:ea typeface="Inter Italics"/>
                <a:cs typeface="Inter Italics"/>
                <a:sym typeface="Inter Italics"/>
              </a:rPr>
              <a:t>• Security – RBAC, hashed passwords, HTTPS, JWT authentication</a:t>
            </a:r>
          </a:p>
          <a:p>
            <a:pPr algn="l">
              <a:lnSpc>
                <a:spcPts val="4927"/>
              </a:lnSpc>
            </a:pPr>
            <a:r>
              <a:rPr lang="en-US" sz="2799" i="true">
                <a:solidFill>
                  <a:srgbClr val="000000"/>
                </a:solidFill>
                <a:latin typeface="Inter Italics"/>
                <a:ea typeface="Inter Italics"/>
                <a:cs typeface="Inter Italics"/>
                <a:sym typeface="Inter Italics"/>
              </a:rPr>
              <a:t>• Performance – Page load time &lt; 3 seconds, real-time updates</a:t>
            </a:r>
          </a:p>
          <a:p>
            <a:pPr algn="l">
              <a:lnSpc>
                <a:spcPts val="4927"/>
              </a:lnSpc>
            </a:pPr>
            <a:r>
              <a:rPr lang="en-US" sz="2799" i="true">
                <a:solidFill>
                  <a:srgbClr val="000000"/>
                </a:solidFill>
                <a:latin typeface="Inter Italics"/>
                <a:ea typeface="Inter Italics"/>
                <a:cs typeface="Inter Italics"/>
                <a:sym typeface="Inter Italics"/>
              </a:rPr>
              <a:t>• Usab</a:t>
            </a:r>
            <a:r>
              <a:rPr lang="en-US" sz="2799" i="true">
                <a:solidFill>
                  <a:srgbClr val="000000"/>
                </a:solidFill>
                <a:latin typeface="Inter Italics"/>
                <a:ea typeface="Inter Italics"/>
                <a:cs typeface="Inter Italics"/>
                <a:sym typeface="Inter Italics"/>
              </a:rPr>
              <a:t>ility – Responsive design, easy to use without training</a:t>
            </a:r>
          </a:p>
          <a:p>
            <a:pPr algn="l">
              <a:lnSpc>
                <a:spcPts val="4927"/>
              </a:lnSpc>
            </a:pPr>
            <a:r>
              <a:rPr lang="en-US" sz="2799" i="true">
                <a:solidFill>
                  <a:srgbClr val="000000"/>
                </a:solidFill>
                <a:latin typeface="Inter Italics"/>
                <a:ea typeface="Inter Italics"/>
                <a:cs typeface="Inter Italics"/>
                <a:sym typeface="Inter Italics"/>
              </a:rPr>
              <a:t>• Sca</a:t>
            </a:r>
            <a:r>
              <a:rPr lang="en-US" sz="2799" i="true">
                <a:solidFill>
                  <a:srgbClr val="000000"/>
                </a:solidFill>
                <a:latin typeface="Inter Italics"/>
                <a:ea typeface="Inter Italics"/>
                <a:cs typeface="Inter Italics"/>
                <a:sym typeface="Inter Italics"/>
              </a:rPr>
              <a:t>lability – Supports 500+ concurrent users</a:t>
            </a:r>
          </a:p>
          <a:p>
            <a:pPr algn="l">
              <a:lnSpc>
                <a:spcPts val="4927"/>
              </a:lnSpc>
            </a:pPr>
            <a:r>
              <a:rPr lang="en-US" sz="2799" i="true">
                <a:solidFill>
                  <a:srgbClr val="000000"/>
                </a:solidFill>
                <a:latin typeface="Inter Italics"/>
                <a:ea typeface="Inter Italics"/>
                <a:cs typeface="Inter Italics"/>
                <a:sym typeface="Inter Italics"/>
              </a:rPr>
              <a:t>• Availability – 99%+ system uptime</a:t>
            </a:r>
          </a:p>
          <a:p>
            <a:pPr algn="l">
              <a:lnSpc>
                <a:spcPts val="4927"/>
              </a:lnSpc>
            </a:pPr>
            <a:r>
              <a:rPr lang="en-US" sz="2799" i="true">
                <a:solidFill>
                  <a:srgbClr val="000000"/>
                </a:solidFill>
                <a:latin typeface="Inter Italics"/>
                <a:ea typeface="Inter Italics"/>
                <a:cs typeface="Inter Italics"/>
                <a:sym typeface="Inter Italics"/>
              </a:rPr>
              <a:t>• Data Integrity – Permanent records and daily backups</a:t>
            </a:r>
          </a:p>
          <a:p>
            <a:pPr algn="l">
              <a:lnSpc>
                <a:spcPts val="4927"/>
              </a:lnSpc>
            </a:pPr>
          </a:p>
          <a:p>
            <a:pPr algn="just">
              <a:lnSpc>
                <a:spcPts val="4927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2036841" y="6708751"/>
            <a:ext cx="5697557" cy="2866809"/>
          </a:xfrm>
          <a:custGeom>
            <a:avLst/>
            <a:gdLst/>
            <a:ahLst/>
            <a:cxnLst/>
            <a:rect r="r" b="b" t="t" l="l"/>
            <a:pathLst>
              <a:path h="2866809" w="5697557">
                <a:moveTo>
                  <a:pt x="0" y="0"/>
                </a:moveTo>
                <a:lnTo>
                  <a:pt x="5697557" y="0"/>
                </a:lnTo>
                <a:lnTo>
                  <a:pt x="5697557" y="2866809"/>
                </a:lnTo>
                <a:lnTo>
                  <a:pt x="0" y="28668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221660" y="1181100"/>
            <a:ext cx="15844681" cy="944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056"/>
              </a:lnSpc>
              <a:spcBef>
                <a:spcPct val="0"/>
              </a:spcBef>
            </a:pPr>
            <a:r>
              <a:rPr lang="en-US" b="true" sz="7200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NON-FUNCTIONAL</a:t>
            </a:r>
            <a:r>
              <a:rPr lang="en-US" b="true" sz="7200" strike="noStrike" u="none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 REQUIREMENTS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75760"/>
            <a:ext cx="16230600" cy="823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74"/>
              </a:lnSpc>
            </a:pPr>
            <a:r>
              <a:rPr lang="en-US" b="true" sz="6300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HOUSE OF QUALITY (QFD)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28700" y="456120"/>
            <a:ext cx="572580" cy="57258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717">
                <a:alpha val="9804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6"/>
                </a:lnSpc>
              </a:pPr>
            </a:p>
          </p:txBody>
        </p:sp>
      </p:grpSp>
      <p:graphicFrame>
        <p:nvGraphicFramePr>
          <p:cNvPr name="Object 6" id="6"/>
          <p:cNvGraphicFramePr/>
          <p:nvPr/>
        </p:nvGraphicFramePr>
        <p:xfrm>
          <a:off x="1028700" y="2289326"/>
          <a:ext cx="16230600" cy="6768189"/>
        </p:xfrm>
        <a:graphic>
          <a:graphicData uri="http://schemas.openxmlformats.org/presentationml/2006/ole">
            <p:oleObj imgW="19469100" imgH="100076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48029"/>
            <a:ext cx="572580" cy="57258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717">
                <a:alpha val="9804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6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1777057">
            <a:off x="1110614" y="1109592"/>
            <a:ext cx="446185" cy="449454"/>
          </a:xfrm>
          <a:custGeom>
            <a:avLst/>
            <a:gdLst/>
            <a:ahLst/>
            <a:cxnLst/>
            <a:rect r="r" b="b" t="t" l="l"/>
            <a:pathLst>
              <a:path h="449454" w="446185">
                <a:moveTo>
                  <a:pt x="0" y="0"/>
                </a:moveTo>
                <a:lnTo>
                  <a:pt x="446185" y="0"/>
                </a:lnTo>
                <a:lnTo>
                  <a:pt x="446185" y="449454"/>
                </a:lnTo>
                <a:lnTo>
                  <a:pt x="0" y="4494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568904" y="1028700"/>
            <a:ext cx="4818291" cy="8229600"/>
          </a:xfrm>
          <a:custGeom>
            <a:avLst/>
            <a:gdLst/>
            <a:ahLst/>
            <a:cxnLst/>
            <a:rect r="r" b="b" t="t" l="l"/>
            <a:pathLst>
              <a:path h="8229600" w="4818291">
                <a:moveTo>
                  <a:pt x="0" y="0"/>
                </a:moveTo>
                <a:lnTo>
                  <a:pt x="4818291" y="0"/>
                </a:lnTo>
                <a:lnTo>
                  <a:pt x="4818291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889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2403782"/>
            <a:ext cx="9462114" cy="801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76"/>
              </a:lnSpc>
            </a:pPr>
            <a:r>
              <a:rPr lang="en-US" sz="6200" b="true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USER IN</a:t>
            </a:r>
            <a:r>
              <a:rPr lang="en-US" b="true" sz="6200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TERACTION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78271" y="3761994"/>
            <a:ext cx="10162972" cy="2629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58" indent="-259079" lvl="1">
              <a:lnSpc>
                <a:spcPts val="4223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Students create profiles and form teams</a:t>
            </a:r>
          </a:p>
          <a:p>
            <a:pPr algn="just" marL="518158" indent="-259079" lvl="1">
              <a:lnSpc>
                <a:spcPts val="4223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Supervisors review requests and approve proposals</a:t>
            </a:r>
          </a:p>
          <a:p>
            <a:pPr algn="just" marL="518158" indent="-259079" lvl="1">
              <a:lnSpc>
                <a:spcPts val="4223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Administrators manage users and platform data</a:t>
            </a:r>
          </a:p>
          <a:p>
            <a:pPr algn="just" marL="518158" indent="-259079" lvl="1">
              <a:lnSpc>
                <a:spcPts val="4223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System supports end-to-end project lifecycle management</a:t>
            </a:r>
          </a:p>
          <a:p>
            <a:pPr algn="just">
              <a:lnSpc>
                <a:spcPts val="4223"/>
              </a:lnSpc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900433" y="440407"/>
            <a:ext cx="2530080" cy="1416845"/>
          </a:xfrm>
          <a:custGeom>
            <a:avLst/>
            <a:gdLst/>
            <a:ahLst/>
            <a:cxnLst/>
            <a:rect r="r" b="b" t="t" l="l"/>
            <a:pathLst>
              <a:path h="1416845" w="2530080">
                <a:moveTo>
                  <a:pt x="0" y="0"/>
                </a:moveTo>
                <a:lnTo>
                  <a:pt x="2530081" y="0"/>
                </a:lnTo>
                <a:lnTo>
                  <a:pt x="2530081" y="1416845"/>
                </a:lnTo>
                <a:lnTo>
                  <a:pt x="0" y="14168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798917" y="2751866"/>
            <a:ext cx="4203033" cy="6037084"/>
          </a:xfrm>
          <a:custGeom>
            <a:avLst/>
            <a:gdLst/>
            <a:ahLst/>
            <a:cxnLst/>
            <a:rect r="r" b="b" t="t" l="l"/>
            <a:pathLst>
              <a:path h="6037084" w="4203033">
                <a:moveTo>
                  <a:pt x="0" y="0"/>
                </a:moveTo>
                <a:lnTo>
                  <a:pt x="4203033" y="0"/>
                </a:lnTo>
                <a:lnTo>
                  <a:pt x="4203033" y="6037084"/>
                </a:lnTo>
                <a:lnTo>
                  <a:pt x="0" y="60370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542937" y="864664"/>
            <a:ext cx="7202126" cy="663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5000" b="true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AC</a:t>
            </a:r>
            <a:r>
              <a:rPr lang="en-US" b="true" sz="5000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TIVITY DIAGRAM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962027"/>
            <a:ext cx="1338417" cy="619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704"/>
              </a:lnSpc>
              <a:spcBef>
                <a:spcPct val="0"/>
              </a:spcBef>
            </a:pPr>
            <a:r>
              <a:rPr lang="en-US" b="true" sz="4800" strike="noStrike" u="none">
                <a:solidFill>
                  <a:srgbClr val="004717"/>
                </a:solidFill>
                <a:latin typeface="TT Hoves Bold"/>
                <a:ea typeface="TT Hoves Bold"/>
                <a:cs typeface="TT Hoves Bold"/>
                <a:sym typeface="TT Hoves Bold"/>
              </a:rPr>
              <a:t>01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775100"/>
            <a:ext cx="1338417" cy="619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704"/>
              </a:lnSpc>
              <a:spcBef>
                <a:spcPct val="0"/>
              </a:spcBef>
            </a:pPr>
            <a:r>
              <a:rPr lang="en-US" b="true" sz="4800" strike="noStrike" u="none">
                <a:solidFill>
                  <a:srgbClr val="004717"/>
                </a:solidFill>
                <a:latin typeface="TT Hoves Bold"/>
                <a:ea typeface="TT Hoves Bold"/>
                <a:cs typeface="TT Hoves Bold"/>
                <a:sym typeface="TT Hoves Bold"/>
              </a:rPr>
              <a:t>02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533802"/>
            <a:ext cx="4946921" cy="898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96"/>
              </a:lnSpc>
            </a:pPr>
            <a:r>
              <a:rPr lang="en-US" sz="2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</a:t>
            </a:r>
            <a:r>
              <a:rPr lang="en-US" sz="2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eams draft and submit proposals to supervisors for approval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4347362"/>
            <a:ext cx="4946921" cy="898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96"/>
              </a:lnSpc>
            </a:pPr>
            <a:r>
              <a:rPr lang="en-US" sz="2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Supervisors provide feedback or request revisions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5588660"/>
            <a:ext cx="1338417" cy="619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704"/>
              </a:lnSpc>
              <a:spcBef>
                <a:spcPct val="0"/>
              </a:spcBef>
            </a:pPr>
            <a:r>
              <a:rPr lang="en-US" b="true" sz="4800" strike="noStrike" u="none">
                <a:solidFill>
                  <a:srgbClr val="004717"/>
                </a:solidFill>
                <a:latin typeface="TT Hoves Bold"/>
                <a:ea typeface="TT Hoves Bold"/>
                <a:cs typeface="TT Hoves Bold"/>
                <a:sym typeface="TT Hoves Bold"/>
              </a:rPr>
              <a:t>03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6275222"/>
            <a:ext cx="6448759" cy="898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96"/>
              </a:lnSpc>
            </a:pPr>
            <a:r>
              <a:rPr lang="en-US" sz="2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Sy</a:t>
            </a:r>
            <a:r>
              <a:rPr lang="en-US" sz="2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stem automatically updates progress bars as tasks are completed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7516520"/>
            <a:ext cx="1338417" cy="619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704"/>
              </a:lnSpc>
              <a:spcBef>
                <a:spcPct val="0"/>
              </a:spcBef>
            </a:pPr>
            <a:r>
              <a:rPr lang="en-US" b="true" sz="4800" strike="noStrike" u="none">
                <a:solidFill>
                  <a:srgbClr val="004717"/>
                </a:solidFill>
                <a:latin typeface="TT Hoves Bold"/>
                <a:ea typeface="TT Hoves Bold"/>
                <a:cs typeface="TT Hoves Bold"/>
                <a:sym typeface="TT Hoves Bold"/>
              </a:rPr>
              <a:t>04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8203082"/>
            <a:ext cx="5272320" cy="898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96"/>
              </a:lnSpc>
            </a:pPr>
            <a:r>
              <a:rPr lang="en-US" sz="2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Finalized </a:t>
            </a:r>
            <a:r>
              <a:rPr lang="en-US" sz="2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projects trigger PDF exports and public gallery publishing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617400" y="249223"/>
            <a:ext cx="1384550" cy="1799212"/>
          </a:xfrm>
          <a:custGeom>
            <a:avLst/>
            <a:gdLst/>
            <a:ahLst/>
            <a:cxnLst/>
            <a:rect r="r" b="b" t="t" l="l"/>
            <a:pathLst>
              <a:path h="1799212" w="1384550">
                <a:moveTo>
                  <a:pt x="0" y="0"/>
                </a:moveTo>
                <a:lnTo>
                  <a:pt x="1384550" y="0"/>
                </a:lnTo>
                <a:lnTo>
                  <a:pt x="1384550" y="1799212"/>
                </a:lnTo>
                <a:lnTo>
                  <a:pt x="0" y="17992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112975" y="2648102"/>
            <a:ext cx="5373443" cy="6006185"/>
          </a:xfrm>
          <a:custGeom>
            <a:avLst/>
            <a:gdLst/>
            <a:ahLst/>
            <a:cxnLst/>
            <a:rect r="r" b="b" t="t" l="l"/>
            <a:pathLst>
              <a:path h="6006185" w="5373443">
                <a:moveTo>
                  <a:pt x="0" y="0"/>
                </a:moveTo>
                <a:lnTo>
                  <a:pt x="5373442" y="0"/>
                </a:lnTo>
                <a:lnTo>
                  <a:pt x="5373442" y="6006184"/>
                </a:lnTo>
                <a:lnTo>
                  <a:pt x="0" y="60061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542937" y="864664"/>
            <a:ext cx="7202126" cy="663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5000" b="true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SEQUENCE</a:t>
            </a:r>
            <a:r>
              <a:rPr lang="en-US" b="true" sz="5000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 DIAGRAM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962027"/>
            <a:ext cx="1338417" cy="619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704"/>
              </a:lnSpc>
              <a:spcBef>
                <a:spcPct val="0"/>
              </a:spcBef>
            </a:pPr>
            <a:r>
              <a:rPr lang="en-US" b="true" sz="4800" strike="noStrike" u="none">
                <a:solidFill>
                  <a:srgbClr val="004717"/>
                </a:solidFill>
                <a:latin typeface="TT Hoves Bold"/>
                <a:ea typeface="TT Hoves Bold"/>
                <a:cs typeface="TT Hoves Bold"/>
                <a:sym typeface="TT Hoves Bold"/>
              </a:rPr>
              <a:t>01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775100"/>
            <a:ext cx="1338417" cy="619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704"/>
              </a:lnSpc>
              <a:spcBef>
                <a:spcPct val="0"/>
              </a:spcBef>
            </a:pPr>
            <a:r>
              <a:rPr lang="en-US" b="true" sz="4800" strike="noStrike" u="none">
                <a:solidFill>
                  <a:srgbClr val="004717"/>
                </a:solidFill>
                <a:latin typeface="TT Hoves Bold"/>
                <a:ea typeface="TT Hoves Bold"/>
                <a:cs typeface="TT Hoves Bold"/>
                <a:sym typeface="TT Hoves Bold"/>
              </a:rPr>
              <a:t>02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533802"/>
            <a:ext cx="4946921" cy="898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96"/>
              </a:lnSpc>
            </a:pPr>
            <a:r>
              <a:rPr lang="en-US" sz="2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</a:t>
            </a:r>
            <a:r>
              <a:rPr lang="en-US" sz="2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eam leaders search for students matching specific skill profiles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4347362"/>
            <a:ext cx="4946921" cy="898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96"/>
              </a:lnSpc>
            </a:pPr>
            <a:r>
              <a:rPr lang="en-US" sz="2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</a:t>
            </a:r>
            <a:r>
              <a:rPr lang="en-US" sz="2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 system sends real-time notifications for pending invitations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5588660"/>
            <a:ext cx="1338417" cy="619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704"/>
              </a:lnSpc>
              <a:spcBef>
                <a:spcPct val="0"/>
              </a:spcBef>
            </a:pPr>
            <a:r>
              <a:rPr lang="en-US" b="true" sz="4800" strike="noStrike" u="none">
                <a:solidFill>
                  <a:srgbClr val="004717"/>
                </a:solidFill>
                <a:latin typeface="TT Hoves Bold"/>
                <a:ea typeface="TT Hoves Bold"/>
                <a:cs typeface="TT Hoves Bold"/>
                <a:sym typeface="TT Hoves Bold"/>
              </a:rPr>
              <a:t>03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6275222"/>
            <a:ext cx="6448759" cy="898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96"/>
              </a:lnSpc>
            </a:pPr>
            <a:r>
              <a:rPr lang="en-US" sz="2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Accepting an invita</a:t>
            </a:r>
            <a:r>
              <a:rPr lang="en-US" sz="2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tion automatically updates the team database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7516520"/>
            <a:ext cx="1338417" cy="619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704"/>
              </a:lnSpc>
              <a:spcBef>
                <a:spcPct val="0"/>
              </a:spcBef>
            </a:pPr>
            <a:r>
              <a:rPr lang="en-US" b="true" sz="4800" strike="noStrike" u="none">
                <a:solidFill>
                  <a:srgbClr val="004717"/>
                </a:solidFill>
                <a:latin typeface="TT Hoves Bold"/>
                <a:ea typeface="TT Hoves Bold"/>
                <a:cs typeface="TT Hoves Bold"/>
                <a:sym typeface="TT Hoves Bold"/>
              </a:rPr>
              <a:t>04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8203082"/>
            <a:ext cx="5272320" cy="898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96"/>
              </a:lnSpc>
            </a:pPr>
            <a:r>
              <a:rPr lang="en-US" sz="2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</a:t>
            </a:r>
            <a:r>
              <a:rPr lang="en-US" sz="2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jections are recorded and notified back to the team leader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734550" y="2865375"/>
            <a:ext cx="7524750" cy="1296036"/>
            <a:chOff x="0" y="0"/>
            <a:chExt cx="1981827" cy="3413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81827" cy="341343"/>
            </a:xfrm>
            <a:custGeom>
              <a:avLst/>
              <a:gdLst/>
              <a:ahLst/>
              <a:cxnLst/>
              <a:rect r="r" b="b" t="t" l="l"/>
              <a:pathLst>
                <a:path h="341343" w="1981827">
                  <a:moveTo>
                    <a:pt x="20577" y="0"/>
                  </a:moveTo>
                  <a:lnTo>
                    <a:pt x="1961250" y="0"/>
                  </a:lnTo>
                  <a:cubicBezTo>
                    <a:pt x="1966707" y="0"/>
                    <a:pt x="1971941" y="2168"/>
                    <a:pt x="1975800" y="6027"/>
                  </a:cubicBezTo>
                  <a:cubicBezTo>
                    <a:pt x="1979659" y="9886"/>
                    <a:pt x="1981827" y="15120"/>
                    <a:pt x="1981827" y="20577"/>
                  </a:cubicBezTo>
                  <a:lnTo>
                    <a:pt x="1981827" y="320765"/>
                  </a:lnTo>
                  <a:cubicBezTo>
                    <a:pt x="1981827" y="326223"/>
                    <a:pt x="1979659" y="331457"/>
                    <a:pt x="1975800" y="335316"/>
                  </a:cubicBezTo>
                  <a:cubicBezTo>
                    <a:pt x="1971941" y="339175"/>
                    <a:pt x="1966707" y="341343"/>
                    <a:pt x="1961250" y="341343"/>
                  </a:cubicBezTo>
                  <a:lnTo>
                    <a:pt x="20577" y="341343"/>
                  </a:lnTo>
                  <a:cubicBezTo>
                    <a:pt x="15120" y="341343"/>
                    <a:pt x="9886" y="339175"/>
                    <a:pt x="6027" y="335316"/>
                  </a:cubicBezTo>
                  <a:cubicBezTo>
                    <a:pt x="2168" y="331457"/>
                    <a:pt x="0" y="326223"/>
                    <a:pt x="0" y="320765"/>
                  </a:cubicBezTo>
                  <a:lnTo>
                    <a:pt x="0" y="20577"/>
                  </a:lnTo>
                  <a:cubicBezTo>
                    <a:pt x="0" y="15120"/>
                    <a:pt x="2168" y="9886"/>
                    <a:pt x="6027" y="6027"/>
                  </a:cubicBezTo>
                  <a:cubicBezTo>
                    <a:pt x="9886" y="2168"/>
                    <a:pt x="15120" y="0"/>
                    <a:pt x="20577" y="0"/>
                  </a:cubicBezTo>
                  <a:close/>
                </a:path>
              </a:pathLst>
            </a:custGeom>
            <a:solidFill>
              <a:srgbClr val="00471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981827" cy="3794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332631" y="3210942"/>
            <a:ext cx="6328587" cy="431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6"/>
              </a:lnSpc>
            </a:pPr>
            <a:r>
              <a:rPr lang="en-US" sz="2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</a:t>
            </a:r>
            <a:r>
              <a:rPr lang="en-US" sz="2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edicated Android and iOS mobile applications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734550" y="4490340"/>
            <a:ext cx="7524750" cy="1296036"/>
            <a:chOff x="0" y="0"/>
            <a:chExt cx="1981827" cy="34134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81827" cy="341343"/>
            </a:xfrm>
            <a:custGeom>
              <a:avLst/>
              <a:gdLst/>
              <a:ahLst/>
              <a:cxnLst/>
              <a:rect r="r" b="b" t="t" l="l"/>
              <a:pathLst>
                <a:path h="341343" w="1981827">
                  <a:moveTo>
                    <a:pt x="20577" y="0"/>
                  </a:moveTo>
                  <a:lnTo>
                    <a:pt x="1961250" y="0"/>
                  </a:lnTo>
                  <a:cubicBezTo>
                    <a:pt x="1966707" y="0"/>
                    <a:pt x="1971941" y="2168"/>
                    <a:pt x="1975800" y="6027"/>
                  </a:cubicBezTo>
                  <a:cubicBezTo>
                    <a:pt x="1979659" y="9886"/>
                    <a:pt x="1981827" y="15120"/>
                    <a:pt x="1981827" y="20577"/>
                  </a:cubicBezTo>
                  <a:lnTo>
                    <a:pt x="1981827" y="320765"/>
                  </a:lnTo>
                  <a:cubicBezTo>
                    <a:pt x="1981827" y="326223"/>
                    <a:pt x="1979659" y="331457"/>
                    <a:pt x="1975800" y="335316"/>
                  </a:cubicBezTo>
                  <a:cubicBezTo>
                    <a:pt x="1971941" y="339175"/>
                    <a:pt x="1966707" y="341343"/>
                    <a:pt x="1961250" y="341343"/>
                  </a:cubicBezTo>
                  <a:lnTo>
                    <a:pt x="20577" y="341343"/>
                  </a:lnTo>
                  <a:cubicBezTo>
                    <a:pt x="15120" y="341343"/>
                    <a:pt x="9886" y="339175"/>
                    <a:pt x="6027" y="335316"/>
                  </a:cubicBezTo>
                  <a:cubicBezTo>
                    <a:pt x="2168" y="331457"/>
                    <a:pt x="0" y="326223"/>
                    <a:pt x="0" y="320765"/>
                  </a:cubicBezTo>
                  <a:lnTo>
                    <a:pt x="0" y="20577"/>
                  </a:lnTo>
                  <a:cubicBezTo>
                    <a:pt x="0" y="15120"/>
                    <a:pt x="2168" y="9886"/>
                    <a:pt x="6027" y="6027"/>
                  </a:cubicBezTo>
                  <a:cubicBezTo>
                    <a:pt x="9886" y="2168"/>
                    <a:pt x="15120" y="0"/>
                    <a:pt x="20577" y="0"/>
                  </a:cubicBezTo>
                  <a:close/>
                </a:path>
              </a:pathLst>
            </a:custGeom>
            <a:solidFill>
              <a:srgbClr val="004717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981827" cy="3794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332631" y="4632009"/>
            <a:ext cx="6328587" cy="898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6"/>
              </a:lnSpc>
            </a:pPr>
            <a:r>
              <a:rPr lang="en-US" sz="2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G</a:t>
            </a:r>
            <a:r>
              <a:rPr lang="en-US" sz="2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itHub integration for technical repository managemen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734550" y="6119751"/>
            <a:ext cx="7524750" cy="1296036"/>
            <a:chOff x="0" y="0"/>
            <a:chExt cx="1981827" cy="34134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81827" cy="341343"/>
            </a:xfrm>
            <a:custGeom>
              <a:avLst/>
              <a:gdLst/>
              <a:ahLst/>
              <a:cxnLst/>
              <a:rect r="r" b="b" t="t" l="l"/>
              <a:pathLst>
                <a:path h="341343" w="1981827">
                  <a:moveTo>
                    <a:pt x="20577" y="0"/>
                  </a:moveTo>
                  <a:lnTo>
                    <a:pt x="1961250" y="0"/>
                  </a:lnTo>
                  <a:cubicBezTo>
                    <a:pt x="1966707" y="0"/>
                    <a:pt x="1971941" y="2168"/>
                    <a:pt x="1975800" y="6027"/>
                  </a:cubicBezTo>
                  <a:cubicBezTo>
                    <a:pt x="1979659" y="9886"/>
                    <a:pt x="1981827" y="15120"/>
                    <a:pt x="1981827" y="20577"/>
                  </a:cubicBezTo>
                  <a:lnTo>
                    <a:pt x="1981827" y="320765"/>
                  </a:lnTo>
                  <a:cubicBezTo>
                    <a:pt x="1981827" y="326223"/>
                    <a:pt x="1979659" y="331457"/>
                    <a:pt x="1975800" y="335316"/>
                  </a:cubicBezTo>
                  <a:cubicBezTo>
                    <a:pt x="1971941" y="339175"/>
                    <a:pt x="1966707" y="341343"/>
                    <a:pt x="1961250" y="341343"/>
                  </a:cubicBezTo>
                  <a:lnTo>
                    <a:pt x="20577" y="341343"/>
                  </a:lnTo>
                  <a:cubicBezTo>
                    <a:pt x="15120" y="341343"/>
                    <a:pt x="9886" y="339175"/>
                    <a:pt x="6027" y="335316"/>
                  </a:cubicBezTo>
                  <a:cubicBezTo>
                    <a:pt x="2168" y="331457"/>
                    <a:pt x="0" y="326223"/>
                    <a:pt x="0" y="320765"/>
                  </a:cubicBezTo>
                  <a:lnTo>
                    <a:pt x="0" y="20577"/>
                  </a:lnTo>
                  <a:cubicBezTo>
                    <a:pt x="0" y="15120"/>
                    <a:pt x="2168" y="9886"/>
                    <a:pt x="6027" y="6027"/>
                  </a:cubicBezTo>
                  <a:cubicBezTo>
                    <a:pt x="9886" y="2168"/>
                    <a:pt x="15120" y="0"/>
                    <a:pt x="20577" y="0"/>
                  </a:cubicBezTo>
                  <a:close/>
                </a:path>
              </a:pathLst>
            </a:custGeom>
            <a:solidFill>
              <a:srgbClr val="004717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981827" cy="3794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0332631" y="6261419"/>
            <a:ext cx="6328587" cy="898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6"/>
              </a:lnSpc>
            </a:pPr>
            <a:r>
              <a:rPr lang="en-US" sz="2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AI-b</a:t>
            </a:r>
            <a:r>
              <a:rPr lang="en-US" sz="2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ased teammate and supervisor recommendations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734550" y="7749161"/>
            <a:ext cx="7524750" cy="1296036"/>
            <a:chOff x="0" y="0"/>
            <a:chExt cx="1981827" cy="34134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81827" cy="341343"/>
            </a:xfrm>
            <a:custGeom>
              <a:avLst/>
              <a:gdLst/>
              <a:ahLst/>
              <a:cxnLst/>
              <a:rect r="r" b="b" t="t" l="l"/>
              <a:pathLst>
                <a:path h="341343" w="1981827">
                  <a:moveTo>
                    <a:pt x="20577" y="0"/>
                  </a:moveTo>
                  <a:lnTo>
                    <a:pt x="1961250" y="0"/>
                  </a:lnTo>
                  <a:cubicBezTo>
                    <a:pt x="1966707" y="0"/>
                    <a:pt x="1971941" y="2168"/>
                    <a:pt x="1975800" y="6027"/>
                  </a:cubicBezTo>
                  <a:cubicBezTo>
                    <a:pt x="1979659" y="9886"/>
                    <a:pt x="1981827" y="15120"/>
                    <a:pt x="1981827" y="20577"/>
                  </a:cubicBezTo>
                  <a:lnTo>
                    <a:pt x="1981827" y="320765"/>
                  </a:lnTo>
                  <a:cubicBezTo>
                    <a:pt x="1981827" y="326223"/>
                    <a:pt x="1979659" y="331457"/>
                    <a:pt x="1975800" y="335316"/>
                  </a:cubicBezTo>
                  <a:cubicBezTo>
                    <a:pt x="1971941" y="339175"/>
                    <a:pt x="1966707" y="341343"/>
                    <a:pt x="1961250" y="341343"/>
                  </a:cubicBezTo>
                  <a:lnTo>
                    <a:pt x="20577" y="341343"/>
                  </a:lnTo>
                  <a:cubicBezTo>
                    <a:pt x="15120" y="341343"/>
                    <a:pt x="9886" y="339175"/>
                    <a:pt x="6027" y="335316"/>
                  </a:cubicBezTo>
                  <a:cubicBezTo>
                    <a:pt x="2168" y="331457"/>
                    <a:pt x="0" y="326223"/>
                    <a:pt x="0" y="320765"/>
                  </a:cubicBezTo>
                  <a:lnTo>
                    <a:pt x="0" y="20577"/>
                  </a:lnTo>
                  <a:cubicBezTo>
                    <a:pt x="0" y="15120"/>
                    <a:pt x="2168" y="9886"/>
                    <a:pt x="6027" y="6027"/>
                  </a:cubicBezTo>
                  <a:cubicBezTo>
                    <a:pt x="9886" y="2168"/>
                    <a:pt x="15120" y="0"/>
                    <a:pt x="20577" y="0"/>
                  </a:cubicBezTo>
                  <a:close/>
                </a:path>
              </a:pathLst>
            </a:custGeom>
            <a:solidFill>
              <a:srgbClr val="004717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81827" cy="3794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0332631" y="7890830"/>
            <a:ext cx="6328587" cy="898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6"/>
              </a:lnSpc>
            </a:pPr>
            <a:r>
              <a:rPr lang="en-US" sz="2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Analytics, peer evaluation, and video meeting support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0862" y="3993199"/>
            <a:ext cx="8383138" cy="3207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71"/>
              </a:lnSpc>
            </a:pPr>
            <a:r>
              <a:rPr lang="en-US" sz="6399" b="true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FUT</a:t>
            </a:r>
            <a:r>
              <a:rPr lang="en-US" b="true" sz="6399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URE ENHANCEMENTS EXPAND PLATFORM VALUE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760862" y="1823978"/>
            <a:ext cx="572580" cy="572580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717">
                <a:alpha val="9804"/>
              </a:srgbClr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6"/>
                </a:lnSpc>
              </a:pPr>
            </a:p>
          </p:txBody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48029"/>
            <a:ext cx="572580" cy="57258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717">
                <a:alpha val="9804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6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3945567" y="193286"/>
            <a:ext cx="4342433" cy="1940606"/>
          </a:xfrm>
          <a:custGeom>
            <a:avLst/>
            <a:gdLst/>
            <a:ahLst/>
            <a:cxnLst/>
            <a:rect r="r" b="b" t="t" l="l"/>
            <a:pathLst>
              <a:path h="1940606" w="4342433">
                <a:moveTo>
                  <a:pt x="0" y="0"/>
                </a:moveTo>
                <a:lnTo>
                  <a:pt x="4342433" y="0"/>
                </a:lnTo>
                <a:lnTo>
                  <a:pt x="4342433" y="1940606"/>
                </a:lnTo>
                <a:lnTo>
                  <a:pt x="0" y="19406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694350" y="2295817"/>
            <a:ext cx="10899300" cy="1052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b="true" sz="8000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C</a:t>
            </a:r>
            <a:r>
              <a:rPr lang="en-US" b="true" sz="8000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ONC</a:t>
            </a:r>
            <a:r>
              <a:rPr lang="en-US" b="true" sz="8000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LUSION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4329925"/>
            <a:ext cx="16361122" cy="3058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4927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TEAMUP — web platform for project team formation, supervision &amp; collaboration</a:t>
            </a:r>
          </a:p>
          <a:p>
            <a:pPr algn="l" marL="604519" indent="-302260" lvl="1">
              <a:lnSpc>
                <a:spcPts val="4927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Skill-based teammate matching, skill-gap analysis, task boards, proposal tracking, showcases</a:t>
            </a:r>
          </a:p>
          <a:p>
            <a:pPr algn="l" marL="604519" indent="-302260" lvl="1">
              <a:lnSpc>
                <a:spcPts val="4927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Centralized workspace replacing scattered tools</a:t>
            </a:r>
          </a:p>
          <a:p>
            <a:pPr algn="l" marL="604519" indent="-302260" lvl="1">
              <a:lnSpc>
                <a:spcPts val="4927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Improves transparency, workflow &amp; coordination</a:t>
            </a:r>
          </a:p>
          <a:p>
            <a:pPr algn="l" marL="604519" indent="-302260" lvl="1">
              <a:lnSpc>
                <a:spcPts val="4927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Builds permanent student portfolios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185009" y="4698365"/>
            <a:ext cx="8115300" cy="1052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8000" b="true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DAHMFduWDPI</dc:identifier>
  <dcterms:modified xsi:type="dcterms:W3CDTF">2011-08-01T06:04:30Z</dcterms:modified>
  <cp:revision>1</cp:revision>
  <dc:title>TEAMUP — Academic Project Team Formation &amp; Collaboration Platform</dc:title>
</cp:coreProperties>
</file>